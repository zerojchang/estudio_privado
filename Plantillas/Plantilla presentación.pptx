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277" r:id="rId6"/>
    <p:sldId id="264" r:id="rId7"/>
    <p:sldId id="293" r:id="rId8"/>
    <p:sldId id="294" r:id="rId9"/>
    <p:sldId id="301" r:id="rId10"/>
    <p:sldId id="295" r:id="rId11"/>
    <p:sldId id="268" r:id="rId12"/>
    <p:sldId id="296" r:id="rId13"/>
    <p:sldId id="297" r:id="rId14"/>
    <p:sldId id="298" r:id="rId15"/>
    <p:sldId id="299" r:id="rId16"/>
    <p:sldId id="300" r:id="rId17"/>
    <p:sldId id="27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912" y="5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8/27/2025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560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F9B02-A508-CCBB-C277-BFCB5A258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1B06F6-2F25-7FFF-6037-39E3FA1D02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3AC18-1E8E-C5E9-5C4C-61FD32451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EE02E3-FDB6-2CC1-5304-C8DDD6C36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485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72CF-9327-2D84-B628-715E2138A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FBE19-6AC2-482B-0FE6-F0B23A6CE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1CCB36-C5AB-899D-536D-471BF76991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0AB01-1BFB-4963-1FEE-A6FC9FD3A7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4665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1C68A-73BA-C841-F342-A2BA80CB8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B5F4C-9851-FDA7-E870-825F34E68C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B3DF48-889F-01E4-A819-79AB9B917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2CAF6-56D1-4D14-163E-3BD87A9465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7219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AC050-3C13-E0FA-3D30-2CD6CE5D8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2F5BA3-8705-90FC-BB97-E9755F3032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FCFFC-A391-29A0-E29C-BA5A185B8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05096-9F34-7630-8875-8F6FB8123A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014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3BFEE-4C03-AD7A-9BFE-6E8CF40ED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18133-3584-148C-3CDB-68F85C2032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428994-646D-9042-6474-8083941F2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2437F-A8B9-7166-471F-FD0862AD67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145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C0554-D1E5-451E-0A53-3C7EB62CD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47340-10F9-3F6D-C97C-3BEBD10672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37FFD-D3BC-F496-1E69-66A594E895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11B8D6-07D5-F156-D15A-60930CAAAA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3989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C107C-6B3C-ADC1-39BB-709B5B265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B5AFC-CCAF-A106-CA05-8268E1C60A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84EF3-9030-BA5D-B20F-5561A4361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3AEC2-773B-3309-77A6-41B0CF55F4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1869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ACE7A-F208-32EB-A3F4-BE7CF72D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079280-BC49-68A1-48E6-96B896374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122C91-CC90-FE2E-6C6C-5F6C983576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714C7A-090D-D3C9-0216-2FDC7305B8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0376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C8BFB-D88A-38F1-D22D-3736E73B3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3ED745-B0E1-CA4C-C7C9-F1A63C568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E6BE88-4DAE-0E79-EE43-B2B8F22DF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7387D4-49B3-0E55-997A-197BE2709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29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en-US" dirty="0" err="1"/>
              <a:t>Soluci</a:t>
            </a:r>
            <a:r>
              <a:rPr lang="es-419" dirty="0" err="1"/>
              <a:t>ón</a:t>
            </a:r>
            <a:br>
              <a:rPr lang="es-419" dirty="0"/>
            </a:br>
            <a:r>
              <a:rPr lang="es-419" dirty="0"/>
              <a:t>Coffe </a:t>
            </a:r>
            <a:r>
              <a:rPr lang="es-419" dirty="0" err="1"/>
              <a:t>Maker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764857"/>
          </a:xfrm>
        </p:spPr>
        <p:txBody>
          <a:bodyPr>
            <a:normAutofit/>
          </a:bodyPr>
          <a:lstStyle/>
          <a:p>
            <a:r>
              <a:rPr lang="en-US" dirty="0"/>
              <a:t>Agenda</a:t>
            </a:r>
            <a:endParaRPr lang="en-Z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182934" y="1275670"/>
            <a:ext cx="7750919" cy="508068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Identificación de necesidades tecnológicas y operativas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Problemáticas</a:t>
            </a:r>
            <a:r>
              <a:rPr lang="en-US" dirty="0"/>
              <a:t> </a:t>
            </a:r>
            <a:r>
              <a:rPr lang="en-US" dirty="0" err="1"/>
              <a:t>críticas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Objetivos</a:t>
            </a:r>
            <a:r>
              <a:rPr lang="en-US" dirty="0"/>
              <a:t> de la </a:t>
            </a:r>
            <a:r>
              <a:rPr lang="en-US" dirty="0" err="1"/>
              <a:t>solución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Arquitectura y metodología de desarrollo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Infraestructura</a:t>
            </a:r>
            <a:r>
              <a:rPr lang="en-US" dirty="0"/>
              <a:t> </a:t>
            </a:r>
            <a:r>
              <a:rPr lang="en-US" dirty="0" err="1"/>
              <a:t>necesaria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Plan de </a:t>
            </a:r>
            <a:r>
              <a:rPr lang="en-US" dirty="0" err="1"/>
              <a:t>ejecución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Viabilidad</a:t>
            </a:r>
            <a:r>
              <a:rPr lang="en-US" dirty="0"/>
              <a:t> </a:t>
            </a:r>
            <a:r>
              <a:rPr lang="en-US" dirty="0" err="1"/>
              <a:t>económica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 err="1"/>
              <a:t>Definición</a:t>
            </a:r>
            <a:r>
              <a:rPr lang="en-US" dirty="0"/>
              <a:t> de KPIs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6341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Tecnológicas</a:t>
            </a:r>
            <a:r>
              <a:rPr lang="en-US" dirty="0"/>
              <a:t>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50D-BAF4-C23C-F8EC-24DEC429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4FE727F3-3B09-0321-5ED9-1F9710711EED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289249" y="3015385"/>
            <a:ext cx="74271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5A4C2-24F7-0A03-B5B0-4FF0CFCF4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DC2F-22DB-1F37-BD54-BBEE499C8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96112"/>
            <a:ext cx="6589150" cy="63410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Operativas</a:t>
            </a:r>
            <a:r>
              <a:rPr lang="en-US" dirty="0"/>
              <a:t>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0661C5-7FC7-CD92-B115-DA7970548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C7D1700D-6DDD-F6B7-586E-A42CAA6A0B26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305" y="3198167"/>
            <a:ext cx="2920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26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FA43-B200-B0E1-9C14-84478C4A4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D195-EA3E-7AD6-F238-242A6A447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7038391" cy="6527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Problemáticas</a:t>
            </a:r>
            <a:r>
              <a:rPr lang="en-US" dirty="0"/>
              <a:t> </a:t>
            </a:r>
            <a:r>
              <a:rPr lang="en-US" dirty="0" err="1"/>
              <a:t>críticas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F1F87-D880-C678-55C3-903E22D65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F0F2EF1A-EA4B-E445-92DC-A09C98EEF6B7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175" y="3244335"/>
            <a:ext cx="75489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7691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FB18-FB99-194C-ED80-CC8245A1A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104E-A8B6-8235-9AB1-E4D210AA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05" y="756153"/>
            <a:ext cx="7812833" cy="6527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Matriz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322CA-90FA-BBAE-8C69-5C9EBD55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088E21-F460-8383-E0B7-2EB95F4662E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176" y="3228945"/>
            <a:ext cx="78941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43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87BA-C582-2DA7-A013-1F0EF8217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59D9-B776-341C-1DA8-5821E6291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105" y="756153"/>
            <a:ext cx="7812833" cy="65277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Objetivos</a:t>
            </a:r>
            <a:r>
              <a:rPr lang="en-US" dirty="0"/>
              <a:t> de la </a:t>
            </a:r>
            <a:r>
              <a:rPr lang="en-US" dirty="0" err="1"/>
              <a:t>solución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665BF-8972-E4C8-B028-3B535A3D6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CF36323-C3BF-131D-E612-5CF448F85258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130176" y="3228945"/>
            <a:ext cx="78941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183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Arquitectura</a:t>
            </a:r>
            <a:r>
              <a:rPr lang="en-US" dirty="0"/>
              <a:t>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6B31B0-7B84-475D-961F-09C0191F91A2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71525" y="2590800"/>
            <a:ext cx="4514850" cy="350520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s-E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7A7635-4099-5AF1-BDE2-180BFC5F1958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26DE-3739-D4D4-0EEB-A5C3A1B4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D48236-F54D-8985-AE66-71F17DE02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Metodología</a:t>
            </a:r>
            <a:r>
              <a:rPr lang="en-US" dirty="0"/>
              <a:t> de </a:t>
            </a:r>
            <a:r>
              <a:rPr lang="en-US" dirty="0" err="1"/>
              <a:t>desarrollo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83644-D747-50EC-2DDA-EE94F206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B64077F-9075-E877-0652-744429ADE014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846170" y="1623527"/>
            <a:ext cx="870302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Metodología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Ágil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(Scrum/kanban)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entregas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incrementales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Justificación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permite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adaptarse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negocio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lanzar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módulos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B8F6F8A-44F9-8D3E-C6F4-4E50E585D9C2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1955576482"/>
              </p:ext>
            </p:extLst>
          </p:nvPr>
        </p:nvGraphicFramePr>
        <p:xfrm>
          <a:off x="637690" y="2722931"/>
          <a:ext cx="5458310" cy="282959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729155">
                  <a:extLst>
                    <a:ext uri="{9D8B030D-6E8A-4147-A177-3AD203B41FA5}">
                      <a16:colId xmlns:a16="http://schemas.microsoft.com/office/drawing/2014/main" val="998296374"/>
                    </a:ext>
                  </a:extLst>
                </a:gridCol>
                <a:gridCol w="2729155">
                  <a:extLst>
                    <a:ext uri="{9D8B030D-6E8A-4147-A177-3AD203B41FA5}">
                      <a16:colId xmlns:a16="http://schemas.microsoft.com/office/drawing/2014/main" val="3205155036"/>
                    </a:ext>
                  </a:extLst>
                </a:gridCol>
              </a:tblGrid>
              <a:tr h="226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Ventaja</a:t>
                      </a:r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 err="1"/>
                        <a:t>Explicación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3153148142"/>
                  </a:ext>
                </a:extLst>
              </a:tr>
              <a:tr h="59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Foco + </a:t>
                      </a:r>
                      <a:r>
                        <a:rPr lang="en-US" sz="1200" b="1" dirty="0" err="1"/>
                        <a:t>Flujo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Se combinan metas claras por sprint (Scrum) con flujo continuo de trabajo (Kanban).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3721591237"/>
                  </a:ext>
                </a:extLst>
              </a:tr>
              <a:tr h="403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Menos </a:t>
                      </a:r>
                      <a:r>
                        <a:rPr lang="en-US" sz="1200" b="1" dirty="0" err="1"/>
                        <a:t>desperdicio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WIP limita la multitarea y mejora la calidad del trabajo.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681326686"/>
                  </a:ext>
                </a:extLst>
              </a:tr>
              <a:tr h="59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 err="1"/>
                        <a:t>Adaptabilidad</a:t>
                      </a:r>
                      <a:r>
                        <a:rPr lang="en-US" sz="1200" b="1" dirty="0"/>
                        <a:t> total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Puedes tener plazos fijos (Scrum) y responder a tareas urgentes (Kanban).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3845973339"/>
                  </a:ext>
                </a:extLst>
              </a:tr>
              <a:tr h="4031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b="1" dirty="0"/>
                        <a:t>Mejor métricas de rendimiento</a:t>
                      </a:r>
                      <a:endParaRPr lang="es-E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/>
                        <a:t>Se pueden medir eficiencia (Kanban) y resultados entregables (Scrum).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194884617"/>
                  </a:ext>
                </a:extLst>
              </a:tr>
              <a:tr h="5989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/>
                        <a:t>Mejor </a:t>
                      </a:r>
                      <a:r>
                        <a:rPr lang="en-US" sz="1200" b="1" dirty="0" err="1"/>
                        <a:t>colaboración</a:t>
                      </a:r>
                      <a:endParaRPr lang="en-US" sz="1200" dirty="0"/>
                    </a:p>
                  </a:txBody>
                  <a:tcPr marL="9444" marR="9444" marT="4722" marB="472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 dirty="0"/>
                        <a:t>Las ceremonias Scrum más la visualización Kanban mejoran la comunicación del equipo.</a:t>
                      </a:r>
                    </a:p>
                  </a:txBody>
                  <a:tcPr marL="9444" marR="9444" marT="4722" marB="4722" anchor="ctr"/>
                </a:tc>
                <a:extLst>
                  <a:ext uri="{0D108BD9-81ED-4DB2-BD59-A6C34878D82A}">
                    <a16:rowId xmlns:a16="http://schemas.microsoft.com/office/drawing/2014/main" val="1597400537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CCCB9235-C3AB-D580-7930-B5B795C3F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046" y="2404879"/>
            <a:ext cx="4534032" cy="424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27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77253-5B98-C445-1392-68362DBE1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8AF4E9-2109-66E5-A87E-FCF0DFCFF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36" y="896112"/>
            <a:ext cx="9389288" cy="727415"/>
          </a:xfrm>
        </p:spPr>
        <p:txBody>
          <a:bodyPr/>
          <a:lstStyle/>
          <a:p>
            <a:r>
              <a:rPr lang="en-US" dirty="0" err="1"/>
              <a:t>Infraestructura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94461-4DDD-528A-DA12-1FE94D225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405C-379A-20E1-C80E-74A502F698A2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C4F8FE9-D85F-985F-AE30-7BDBB54B64BB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39180" y="372183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8320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7B7D7-81CD-A717-CE7D-8E46E978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DB4C59-72B8-9CCB-8D02-CB4FE54A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1053" y="886781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/>
              <a:t>Plan de ejecución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9A08C7-4DC4-9221-D959-01D9B16F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39938-BAF9-B816-28B9-C06B3C8146CB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E3A091-16B6-DFA9-F5B4-853CF7779F4C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39763" y="37213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0351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6FDDE-DB9B-894A-75F3-3F0964BCB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1E7096-D108-74FB-DAC7-55DD0E27C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106" y="3256756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/>
              <a:t>Costos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50829-2483-5F98-E219-EC150E517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018E-4528-2D6E-9B80-F741181F5295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50677B2-2CFD-5E93-D9F2-CF87CF5C31BF}"/>
              </a:ext>
            </a:extLst>
          </p:cNvPr>
          <p:cNvSpPr>
            <a:spLocks noGrp="1" noChangeArrowheads="1"/>
          </p:cNvSpPr>
          <p:nvPr>
            <p:ph sz="half" idx="14"/>
          </p:nvPr>
        </p:nvSpPr>
        <p:spPr bwMode="auto">
          <a:xfrm>
            <a:off x="639763" y="372137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54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6F41C-7A5D-8B77-8C59-4CB70D0FA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76BC3C-D107-D888-A873-1DB9D7D08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523" y="149662"/>
            <a:ext cx="9967811" cy="727415"/>
          </a:xfrm>
        </p:spPr>
        <p:txBody>
          <a:bodyPr>
            <a:noAutofit/>
          </a:bodyPr>
          <a:lstStyle/>
          <a:p>
            <a:r>
              <a:rPr lang="es-ES" sz="2800" dirty="0" err="1"/>
              <a:t>KPIs</a:t>
            </a:r>
            <a:endParaRPr lang="en-US" sz="2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F6651-75BE-1389-5CC0-8959750B9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89E1-ABA3-CD49-9D8D-EE92F471B9EA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CDB9F-0425-5DE1-9532-9DAD5BA3B979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68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245" y="544285"/>
            <a:ext cx="5528217" cy="2685383"/>
          </a:xfrm>
        </p:spPr>
        <p:txBody>
          <a:bodyPr/>
          <a:lstStyle/>
          <a:p>
            <a:r>
              <a:rPr lang="en-US"/>
              <a:t>Gracias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96340" y="3423773"/>
            <a:ext cx="5528217" cy="2029969"/>
          </a:xfrm>
        </p:spPr>
        <p:txBody>
          <a:bodyPr bIns="0">
            <a:normAutofit/>
          </a:bodyPr>
          <a:lstStyle/>
          <a:p>
            <a:r>
              <a:rPr lang="en-US" dirty="0"/>
              <a:t>José De León Chang</a:t>
            </a:r>
          </a:p>
          <a:p>
            <a:r>
              <a:rPr lang="en-US" dirty="0"/>
              <a:t>1170419</a:t>
            </a:r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{E850D802-668F-4F47-B61F-DCC9BEA0888D}TF55c86556-70ea-476e-aa05-13a38f2d5b0da1381d77_win32-a3c664429073</Template>
  <TotalTime>103</TotalTime>
  <Words>195</Words>
  <Application>Microsoft Office PowerPoint</Application>
  <PresentationFormat>Widescreen</PresentationFormat>
  <Paragraphs>64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Avenir Next LT Pro</vt:lpstr>
      <vt:lpstr>Calibri</vt:lpstr>
      <vt:lpstr>Custom</vt:lpstr>
      <vt:lpstr>Solución Coffe Maker</vt:lpstr>
      <vt:lpstr>Agenda</vt:lpstr>
      <vt:lpstr>Tecnológicas:</vt:lpstr>
      <vt:lpstr>Operativas:</vt:lpstr>
      <vt:lpstr>Problemáticas críticas</vt:lpstr>
      <vt:lpstr>Matriz</vt:lpstr>
      <vt:lpstr>Objetivos de la solución</vt:lpstr>
      <vt:lpstr>Arquitectura </vt:lpstr>
      <vt:lpstr>Metodología de desarrollo</vt:lpstr>
      <vt:lpstr>Infraestructura</vt:lpstr>
      <vt:lpstr>Plan de ejecución</vt:lpstr>
      <vt:lpstr>Costos</vt:lpstr>
      <vt:lpstr>KPIs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Chang, Jose De Leon</dc:creator>
  <cp:lastModifiedBy>Chang, Jose De Leon</cp:lastModifiedBy>
  <cp:revision>6</cp:revision>
  <dcterms:created xsi:type="dcterms:W3CDTF">2025-08-21T15:24:57Z</dcterms:created>
  <dcterms:modified xsi:type="dcterms:W3CDTF">2025-08-27T19:24:01Z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