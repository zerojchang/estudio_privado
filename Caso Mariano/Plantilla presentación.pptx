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7" r:id="rId6"/>
    <p:sldId id="264" r:id="rId7"/>
    <p:sldId id="293" r:id="rId8"/>
    <p:sldId id="294" r:id="rId9"/>
    <p:sldId id="301" r:id="rId10"/>
    <p:sldId id="295" r:id="rId11"/>
    <p:sldId id="268" r:id="rId12"/>
    <p:sldId id="296" r:id="rId13"/>
    <p:sldId id="302" r:id="rId14"/>
    <p:sldId id="297" r:id="rId15"/>
    <p:sldId id="298" r:id="rId16"/>
    <p:sldId id="299" r:id="rId17"/>
    <p:sldId id="300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43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9B02-A508-CCBB-C277-BFCB5A25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B06F6-2F25-7FFF-6037-39E3FA1D0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3AC18-1E8E-C5E9-5C4C-61FD32451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E02E3-FDB6-2CC1-5304-C8DDD6C36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85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72CF-9327-2D84-B628-715E2138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FBE19-6AC2-482B-0FE6-F0B23A6CE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CCB36-C5AB-899D-536D-471BF7699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0AB01-1BFB-4963-1FEE-A6FC9FD3A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6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C68A-73BA-C841-F342-A2BA80CB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B5F4C-9851-FDA7-E870-825F34E68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3DF48-889F-01E4-A819-79AB9B917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2CAF6-56D1-4D14-163E-3BD87A946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721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C050-3C13-E0FA-3D30-2CD6CE5D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F5BA3-8705-90FC-BB97-E9755F30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CFFC-A391-29A0-E29C-BA5A185B8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05096-9F34-7630-8875-8F6FB8123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0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BFEE-4C03-AD7A-9BFE-6E8CF40E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18133-3584-148C-3CDB-68F85C203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28994-646D-9042-6474-8083941F2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2437F-A8B9-7166-471F-FD0862AD6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145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284F-1375-2C79-545A-468C034F7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4B235-60C4-77E3-87A6-FBFEDBAEC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BBAE1-AEFF-4B28-3D67-42F4C8ADD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C1C53-8D5D-6B0C-5D80-30FFD7213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96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0554-D1E5-451E-0A53-3C7EB62C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47340-10F9-3F6D-C97C-3BEBD106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37FFD-D3BC-F496-1E69-66A594E89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1B8D6-07D5-F156-D15A-60930CAA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398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107C-6B3C-ADC1-39BB-709B5B26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B5AFC-CCAF-A106-CA05-8268E1C60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84EF3-9030-BA5D-B20F-5561A436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3AEC2-773B-3309-77A6-41B0CF55F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186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CE7A-F208-32EB-A3F4-BE7CF72D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79280-BC49-68A1-48E6-96B896374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22C91-CC90-FE2E-6C6C-5F6C9835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4C7A-090D-D3C9-0216-2FDC7305B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7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8BFB-D88A-38F1-D22D-3736E73B3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ED745-B0E1-CA4C-C7C9-F1A63C568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6BE88-4DAE-0E79-EE43-B2B8F22DF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387D4-49B3-0E55-997A-197BE2709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29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 err="1"/>
              <a:t>Soluci</a:t>
            </a:r>
            <a:r>
              <a:rPr lang="es-419" dirty="0" err="1"/>
              <a:t>ón</a:t>
            </a:r>
            <a:br>
              <a:rPr lang="es-419" dirty="0"/>
            </a:br>
            <a:r>
              <a:rPr lang="es-419" dirty="0"/>
              <a:t>Proyecto de control vehicular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764857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82934" y="1275670"/>
            <a:ext cx="7750919" cy="508068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Identificación de necesidades tecnológicas y operativas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Problemáticas</a:t>
            </a:r>
            <a:r>
              <a:rPr lang="en-US" dirty="0"/>
              <a:t> </a:t>
            </a:r>
            <a:r>
              <a:rPr lang="en-US" dirty="0" err="1"/>
              <a:t>críticas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Arquitectura y metodología de desarrollo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Infraestructura</a:t>
            </a:r>
            <a:r>
              <a:rPr lang="en-US" dirty="0"/>
              <a:t> </a:t>
            </a:r>
            <a:r>
              <a:rPr lang="en-US" dirty="0" err="1"/>
              <a:t>necesaria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Plan de </a:t>
            </a:r>
            <a:r>
              <a:rPr lang="en-US" dirty="0" err="1"/>
              <a:t>ejecución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Viabilidad</a:t>
            </a:r>
            <a:r>
              <a:rPr lang="en-US" dirty="0"/>
              <a:t> </a:t>
            </a:r>
            <a:r>
              <a:rPr lang="en-US" dirty="0" err="1"/>
              <a:t>económica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Definición</a:t>
            </a:r>
            <a:r>
              <a:rPr lang="en-US" dirty="0"/>
              <a:t> de KPIs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6341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Tecnológicas</a:t>
            </a:r>
            <a:r>
              <a:rPr lang="en-US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82213AB-AB7D-0865-F4E7-1209C506BC58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328681" y="2176236"/>
            <a:ext cx="670822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Sistema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centralizado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Ministerio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↔ ONG ↔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unidades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Servidores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físicos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redundantes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(Data Center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primario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ONG,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espejo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Ministerio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Conectividad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segura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mediante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VPN/MPLS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Dispositivos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(tablets/laptops,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impresoras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portátiles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lectores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documentos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Integración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bancaria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pagos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línea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Sistema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respaldo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recuperación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desastres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(DRP)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A4C2-24F7-0A03-B5B0-4FF0CFCF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DC2F-22DB-1F37-BD54-BBEE499C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6341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Operativas</a:t>
            </a:r>
            <a:r>
              <a:rPr lang="en-US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61C5-7FC7-CD92-B115-DA797054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D1700D-6DDD-F6B7-586E-A42CAA6A0B2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305" y="2172245"/>
            <a:ext cx="8143255" cy="251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dirty="0"/>
          </a:p>
          <a:p>
            <a:pPr lvl="1"/>
            <a:r>
              <a:rPr lang="es-ES" dirty="0"/>
              <a:t>Control en tiempo real de documentación vehicular y solvencias.</a:t>
            </a:r>
          </a:p>
          <a:p>
            <a:pPr lvl="1"/>
            <a:r>
              <a:rPr lang="es-ES" dirty="0"/>
              <a:t>Reducción de trámites manuales y tiempos de atención en carretera.</a:t>
            </a:r>
          </a:p>
          <a:p>
            <a:pPr lvl="1"/>
            <a:r>
              <a:rPr lang="es-ES" dirty="0"/>
              <a:t>Monitoreo de unidades móviles y personal (GPS).</a:t>
            </a:r>
          </a:p>
          <a:p>
            <a:pPr lvl="1"/>
            <a:r>
              <a:rPr lang="es-ES" dirty="0"/>
              <a:t>Capacitación al personal en uso del sistema y procesos estandarizados.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2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FA43-B200-B0E1-9C14-84478C4A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D195-EA3E-7AD6-F238-242A6A44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7038391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Problemáticas</a:t>
            </a:r>
            <a:r>
              <a:rPr lang="en-US" dirty="0"/>
              <a:t> </a:t>
            </a:r>
            <a:r>
              <a:rPr lang="en-US" dirty="0" err="1"/>
              <a:t>críticas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1F87-D880-C678-55C3-903E22D6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9B28BA-2B5B-B97A-E79C-8DEF5F4296D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5" y="2551837"/>
            <a:ext cx="84208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Conductores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documentos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falsos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vencidos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Procesos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lentos,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dependientes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papel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trámites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manuales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Falta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trazabilidad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pagos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multas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Ausencia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comunicación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integrada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Ministerio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ONG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unidades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Riesgo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corrupción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pérdida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confianza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ciudadana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Carencia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planes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respaldo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contingencia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76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FB18-FB99-194C-ED80-CC8245A1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104E-A8B6-8235-9AB1-E4D210AA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05" y="756153"/>
            <a:ext cx="7812833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322CA-90FA-BBAE-8C69-5C9EBD55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088E21-F460-8383-E0B7-2EB95F4662E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6" y="3228945"/>
            <a:ext cx="78941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3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87BA-C582-2DA7-A013-1F0EF821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59D9-B776-341C-1DA8-5821E629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05" y="756153"/>
            <a:ext cx="7812833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665BF-8972-E4C8-B028-3B535A3D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C2730C-90AD-40B0-4B15-EF751D0D329C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5" y="2551837"/>
            <a:ext cx="84721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Implementar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seguro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centralizado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On-Premise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Mejorar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eficiencia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operativa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carretera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mediante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unidades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digitales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Garantizar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trazabilidad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transparencia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pagos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infracciones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Proteger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sensible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mecanismos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seguridad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robustos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Facilitar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monitoreo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evaluación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procesos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tiempo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Reducir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corrupción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aumentar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confianza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ciudadanos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183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Arquitectura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s-ES" dirty="0"/>
              <a:t>Arquitectura:</a:t>
            </a:r>
          </a:p>
          <a:p>
            <a:pPr>
              <a:spcAft>
                <a:spcPts val="0"/>
              </a:spcAft>
            </a:pPr>
            <a:r>
              <a:rPr lang="es-ES" dirty="0"/>
              <a:t>Modelo cliente-servidor </a:t>
            </a:r>
            <a:r>
              <a:rPr lang="es-ES" dirty="0" err="1"/>
              <a:t>On</a:t>
            </a:r>
            <a:r>
              <a:rPr lang="es-ES" dirty="0"/>
              <a:t>-Premise, con servidores replicados en Ministerio y ONG.</a:t>
            </a:r>
          </a:p>
          <a:p>
            <a:pPr>
              <a:spcAft>
                <a:spcPts val="0"/>
              </a:spcAft>
            </a:pPr>
            <a:r>
              <a:rPr lang="es-ES" dirty="0"/>
              <a:t>Base de datos relacional centralizada.</a:t>
            </a:r>
          </a:p>
          <a:p>
            <a:pPr>
              <a:spcAft>
                <a:spcPts val="0"/>
              </a:spcAft>
            </a:pPr>
            <a:r>
              <a:rPr lang="es-ES" dirty="0"/>
              <a:t>Aplicaciones:</a:t>
            </a:r>
          </a:p>
          <a:p>
            <a:pPr lvl="1">
              <a:spcAft>
                <a:spcPts val="0"/>
              </a:spcAft>
            </a:pPr>
            <a:r>
              <a:rPr lang="es-ES" dirty="0"/>
              <a:t>Móvil (para agentes en unidades móviles).</a:t>
            </a:r>
          </a:p>
          <a:p>
            <a:pPr lvl="1">
              <a:spcAft>
                <a:spcPts val="0"/>
              </a:spcAft>
            </a:pPr>
            <a:r>
              <a:rPr lang="es-ES" dirty="0"/>
              <a:t>Web interna (Ministerio y ONG).</a:t>
            </a:r>
          </a:p>
          <a:p>
            <a:pPr lvl="1">
              <a:spcAft>
                <a:spcPts val="0"/>
              </a:spcAft>
            </a:pPr>
            <a:r>
              <a:rPr lang="es-ES" dirty="0"/>
              <a:t>Portal de reportes y monitoreo.</a:t>
            </a:r>
          </a:p>
          <a:p>
            <a:pPr>
              <a:spcAft>
                <a:spcPts val="0"/>
              </a:spcAft>
            </a:pPr>
            <a:r>
              <a:rPr lang="es-ES" dirty="0"/>
              <a:t>Seguridad: firewalls, VPN, roles de usuario, encriptación de datos.</a:t>
            </a:r>
          </a:p>
          <a:p>
            <a:pPr>
              <a:spcAft>
                <a:spcPts val="0"/>
              </a:spcAft>
            </a:pPr>
            <a:endParaRPr lang="es-E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A7635-4099-5AF1-BDE2-180BFC5F1958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E78DA-9112-D112-8742-E8BFA6507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86" y="2134958"/>
            <a:ext cx="4515034" cy="396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26DE-3739-D4D4-0EEB-A5C3A1B4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D48236-F54D-8985-AE66-71F17DE0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Metodología</a:t>
            </a:r>
            <a:r>
              <a:rPr lang="en-US" dirty="0"/>
              <a:t> de </a:t>
            </a:r>
            <a:r>
              <a:rPr lang="en-US" dirty="0" err="1"/>
              <a:t>desarrollo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83644-D747-50EC-2DDA-EE94F206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B64077F-9075-E877-0652-744429ADE014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46170" y="1623527"/>
            <a:ext cx="87030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Metodología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Ágil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(Scrum/kanban)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adaptarse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negocio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lanzar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8F6F8A-44F9-8D3E-C6F4-4E50E585D9C2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1955576482"/>
              </p:ext>
            </p:extLst>
          </p:nvPr>
        </p:nvGraphicFramePr>
        <p:xfrm>
          <a:off x="637690" y="2722931"/>
          <a:ext cx="5458310" cy="282959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29155">
                  <a:extLst>
                    <a:ext uri="{9D8B030D-6E8A-4147-A177-3AD203B41FA5}">
                      <a16:colId xmlns:a16="http://schemas.microsoft.com/office/drawing/2014/main" val="998296374"/>
                    </a:ext>
                  </a:extLst>
                </a:gridCol>
                <a:gridCol w="2729155">
                  <a:extLst>
                    <a:ext uri="{9D8B030D-6E8A-4147-A177-3AD203B41FA5}">
                      <a16:colId xmlns:a16="http://schemas.microsoft.com/office/drawing/2014/main" val="3205155036"/>
                    </a:ext>
                  </a:extLst>
                </a:gridCol>
              </a:tblGrid>
              <a:tr h="226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Ventaja</a:t>
                      </a:r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Explicación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3153148142"/>
                  </a:ext>
                </a:extLst>
              </a:tr>
              <a:tr h="59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Foco + </a:t>
                      </a:r>
                      <a:r>
                        <a:rPr lang="en-US" sz="1200" b="1" dirty="0" err="1"/>
                        <a:t>Flujo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Se combinan metas claras por sprint (Scrum) con flujo continuo de trabajo (Kanban).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3721591237"/>
                  </a:ext>
                </a:extLst>
              </a:tr>
              <a:tr h="403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Menos </a:t>
                      </a:r>
                      <a:r>
                        <a:rPr lang="en-US" sz="1200" b="1" dirty="0" err="1"/>
                        <a:t>desperdicio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WIP limita la multitarea y mejora la calidad del trabajo.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681326686"/>
                  </a:ext>
                </a:extLst>
              </a:tr>
              <a:tr h="59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Adaptabilidad</a:t>
                      </a:r>
                      <a:r>
                        <a:rPr lang="en-US" sz="1200" b="1" dirty="0"/>
                        <a:t> total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Puedes tener plazos fijos (Scrum) y responder a tareas urgentes (Kanban).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3845973339"/>
                  </a:ext>
                </a:extLst>
              </a:tr>
              <a:tr h="403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/>
                        <a:t>Mejor métricas de rendimiento</a:t>
                      </a:r>
                      <a:endParaRPr lang="es-E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Se pueden medir eficiencia (Kanban) y resultados entregables (Scrum).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194884617"/>
                  </a:ext>
                </a:extLst>
              </a:tr>
              <a:tr h="59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Mejor </a:t>
                      </a:r>
                      <a:r>
                        <a:rPr lang="en-US" sz="1200" b="1" dirty="0" err="1"/>
                        <a:t>colaboración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Las ceremonias Scrum más la visualización Kanban mejoran la comunicación del equipo.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159740053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CCB9235-C3AB-D580-7930-B5B795C3F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46" y="2404879"/>
            <a:ext cx="4534032" cy="424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7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5C39-5BE9-4147-67F7-CAE909A9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F274DC-1E89-2E24-AAF3-D441EC03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/>
              <a:t>Personal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494C9-11C3-AD63-E0AA-DB1792D5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CE2EB9-B9AC-2015-30A6-9F4AD7628451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-12104" y="1655524"/>
            <a:ext cx="5508880" cy="488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Resumen por niveles:</a:t>
            </a:r>
          </a:p>
          <a:p>
            <a:r>
              <a:rPr lang="es-ES" b="1" dirty="0"/>
              <a:t>Nivel Directivo</a:t>
            </a:r>
            <a:endParaRPr lang="es-ES" dirty="0"/>
          </a:p>
          <a:p>
            <a:pPr lvl="1"/>
            <a:r>
              <a:rPr lang="es-ES" dirty="0"/>
              <a:t>Comité de Dirección (4)</a:t>
            </a:r>
          </a:p>
          <a:p>
            <a:pPr lvl="1"/>
            <a:r>
              <a:rPr lang="es-ES" dirty="0"/>
              <a:t>Director del Proyecto (1)</a:t>
            </a:r>
          </a:p>
          <a:p>
            <a:r>
              <a:rPr lang="es-ES" b="1" dirty="0"/>
              <a:t>Nivel de Gestión</a:t>
            </a:r>
            <a:endParaRPr lang="es-ES" dirty="0"/>
          </a:p>
          <a:p>
            <a:pPr lvl="1"/>
            <a:r>
              <a:rPr lang="es-ES" dirty="0"/>
              <a:t>Gerente de Proyecto (1)</a:t>
            </a:r>
          </a:p>
          <a:p>
            <a:pPr lvl="1"/>
            <a:r>
              <a:rPr lang="es-ES" dirty="0"/>
              <a:t>Coordinadores Técnicos y Operativos (2–3)</a:t>
            </a:r>
          </a:p>
          <a:p>
            <a:r>
              <a:rPr lang="es-ES" b="1" dirty="0"/>
              <a:t>Nivel Operativo</a:t>
            </a:r>
            <a:endParaRPr lang="es-ES" dirty="0"/>
          </a:p>
          <a:p>
            <a:pPr lvl="1"/>
            <a:r>
              <a:rPr lang="es-ES" dirty="0"/>
              <a:t>Desarrollo: 6</a:t>
            </a:r>
          </a:p>
          <a:p>
            <a:pPr lvl="1"/>
            <a:r>
              <a:rPr lang="es-ES" dirty="0"/>
              <a:t>Soporte Técnico: 4</a:t>
            </a:r>
          </a:p>
          <a:p>
            <a:pPr lvl="1"/>
            <a:r>
              <a:rPr lang="es-ES" dirty="0"/>
              <a:t>Campo: 3 unidades móviles x 7 personas = 21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5D4B3-5050-72ED-A034-EE58D0254BBD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A0A418-48BB-2E18-A3FD-AA59DE0E0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752" y="1357023"/>
            <a:ext cx="6516009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0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7253-5B98-C445-1392-68362DBE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8AF4E9-2109-66E5-A87E-FCF0DFCF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Infraestructura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94461-4DDD-528A-DA12-1FE94D22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DD86E1-F061-6B86-AF67-8ADF45946FB0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6342477" y="3536052"/>
            <a:ext cx="4514850" cy="308568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85BB4-31C3-4B3A-89BF-B347056037F0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763" y="3721100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Data Centers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base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almacenamiento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Dispositivos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(tablets/laptops robustas,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impresoras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portátiles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firewalls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dedicados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Server / PostgreSQL.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móviles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respaldo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(Veeam, Acronis).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320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B7D7-81CD-A717-CE7D-8E46E978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DB4C59-72B8-9CCB-8D02-CB4FE54A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3" y="886781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/>
              <a:t>Plan de ejecución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A08C7-4DC4-9221-D959-01D9B16F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Content Placeholder 5" descr="A diagram of a project&#10;&#10;AI-generated content may be incorrect.">
            <a:extLst>
              <a:ext uri="{FF2B5EF4-FFF2-40B4-BE49-F238E27FC236}">
                <a16:creationId xmlns:a16="http://schemas.microsoft.com/office/drawing/2014/main" id="{5C4CC567-E84E-D3EA-A934-0DF248B8A498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5764958" y="1371616"/>
            <a:ext cx="6199920" cy="3719952"/>
          </a:xfr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E3A091-16B6-DFA9-F5B4-853CF7779F4C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0" y="1250488"/>
            <a:ext cx="10456971" cy="5975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1400" b="1" dirty="0"/>
              <a:t>Fase 1 – Análisis y diseño (2 meses)</a:t>
            </a:r>
            <a:endParaRPr lang="es-ES" sz="1400" dirty="0"/>
          </a:p>
          <a:p>
            <a:r>
              <a:rPr lang="es-ES" sz="1400" dirty="0"/>
              <a:t>Recolección de requerimientos.</a:t>
            </a:r>
          </a:p>
          <a:p>
            <a:r>
              <a:rPr lang="es-ES" sz="1400" dirty="0"/>
              <a:t>Diseño de arquitectura tecnológica y de software.</a:t>
            </a:r>
          </a:p>
          <a:p>
            <a:r>
              <a:rPr lang="es-ES" sz="1400" b="1" dirty="0"/>
              <a:t>Fase 2 – Desarrollo e infraestructura (4 meses)</a:t>
            </a:r>
            <a:endParaRPr lang="es-ES" sz="1400" dirty="0"/>
          </a:p>
          <a:p>
            <a:r>
              <a:rPr lang="es-ES" sz="1400" dirty="0"/>
              <a:t>Desarrollo de módulos principales (validación, pagos, geolocalización).</a:t>
            </a:r>
          </a:p>
          <a:p>
            <a:r>
              <a:rPr lang="es-ES" sz="1400" dirty="0"/>
              <a:t>Instalación de Data Centers y equipos móviles.</a:t>
            </a:r>
          </a:p>
          <a:p>
            <a:r>
              <a:rPr lang="es-ES" sz="1400" b="1" dirty="0"/>
              <a:t>Fase 3 – Pruebas y capacitación (2 meses)</a:t>
            </a:r>
            <a:endParaRPr lang="es-ES" sz="1400" dirty="0"/>
          </a:p>
          <a:p>
            <a:r>
              <a:rPr lang="es-ES" sz="1400" dirty="0"/>
              <a:t>Pruebas piloto en zona central.</a:t>
            </a:r>
          </a:p>
          <a:p>
            <a:r>
              <a:rPr lang="es-ES" sz="1400" dirty="0"/>
              <a:t>Capacitación al personal operativo y administrativo.</a:t>
            </a:r>
          </a:p>
          <a:p>
            <a:r>
              <a:rPr lang="es-ES" sz="1400" b="1" dirty="0"/>
              <a:t>Fase 4 – Implementación gradual (3 meses)</a:t>
            </a:r>
            <a:endParaRPr lang="es-ES" sz="1400" dirty="0"/>
          </a:p>
          <a:p>
            <a:r>
              <a:rPr lang="es-ES" sz="1400" dirty="0"/>
              <a:t>Despliegue por regiones (iniciando en capital, luego zonas rurales).</a:t>
            </a:r>
          </a:p>
          <a:p>
            <a:r>
              <a:rPr lang="es-ES" sz="1400" dirty="0"/>
              <a:t>Ajustes </a:t>
            </a:r>
            <a:r>
              <a:rPr lang="es-ES" sz="1400" dirty="0" err="1"/>
              <a:t>post-implementación</a:t>
            </a:r>
            <a:r>
              <a:rPr lang="es-ES" sz="1400" dirty="0"/>
              <a:t>.</a:t>
            </a:r>
          </a:p>
          <a:p>
            <a:r>
              <a:rPr lang="es-ES" sz="1400" b="1" dirty="0"/>
              <a:t>Entregables</a:t>
            </a:r>
            <a:r>
              <a:rPr lang="es-ES" sz="1400" dirty="0"/>
              <a:t>: Sistema de información completo  Data Centers operativos.</a:t>
            </a:r>
          </a:p>
          <a:p>
            <a:r>
              <a:rPr lang="es-ES" sz="1400" dirty="0"/>
              <a:t>Manuales y capacitación impartida.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35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6FDDE-DB9B-894A-75F3-3F0964BC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1E7096-D108-74FB-DAC7-55DD0E27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106" y="3256756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/>
              <a:t>Costos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50829-2483-5F98-E219-EC150E51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018E-4528-2D6E-9B80-F741181F529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0677B2-2CFD-5E93-D9F2-CF87CF5C31B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763" y="37213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54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F41C-7A5D-8B77-8C59-4CB70D0F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76BC3C-D107-D888-A873-1DB9D7D0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23" y="149662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 err="1"/>
              <a:t>KPIs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F6651-75BE-1389-5CC0-8959750B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89E1-ABA3-CD49-9D8D-EE92F471B9EA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ECF087-6D82-2C2A-DC50-E86CDBEB50FC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43134" y="1189382"/>
            <a:ext cx="4515035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Eficiencia operativa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 promedio de validación en carretera (&lt;5 minutos).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Transparencia financiera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de pagos registrados en sistema vs. manual (&gt;95%).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Cobertura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de unidades móviles equipadas y activas (&gt;90% en primer año).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Seguridad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Incidentes de accesos no autorizados (0 reportes críticos).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Satisfacción ciudadana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Encuestas a conductores sobre rapidez y confianza (&gt;80% positivos).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Trazabilidad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de casos con registro completo desde captura hasta pago (&gt;98%).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068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/>
              <a:t>Gracias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José De León Chang</a:t>
            </a:r>
          </a:p>
          <a:p>
            <a:r>
              <a:rPr lang="en-US" dirty="0"/>
              <a:t>1170419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{E850D802-668F-4F47-B61F-DCC9BEA0888D}TF55c86556-70ea-476e-aa05-13a38f2d5b0da1381d77_win32-a3c664429073</Template>
  <TotalTime>203</TotalTime>
  <Words>798</Words>
  <Application>Microsoft Office PowerPoint</Application>
  <PresentationFormat>Widescreen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Calibri</vt:lpstr>
      <vt:lpstr>Custom</vt:lpstr>
      <vt:lpstr>Solución Proyecto de control vehicular</vt:lpstr>
      <vt:lpstr>Agenda</vt:lpstr>
      <vt:lpstr>Tecnológicas:</vt:lpstr>
      <vt:lpstr>Operativas:</vt:lpstr>
      <vt:lpstr>Problemáticas críticas</vt:lpstr>
      <vt:lpstr>Matriz</vt:lpstr>
      <vt:lpstr>Objetivos de la solución</vt:lpstr>
      <vt:lpstr>Arquitectura </vt:lpstr>
      <vt:lpstr>Metodología de desarrollo</vt:lpstr>
      <vt:lpstr>Personal</vt:lpstr>
      <vt:lpstr>Infraestructura</vt:lpstr>
      <vt:lpstr>Plan de ejecución</vt:lpstr>
      <vt:lpstr>Costos</vt:lpstr>
      <vt:lpstr>KPIs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Chang, Jose De Leon</dc:creator>
  <cp:lastModifiedBy>Chang, Jose De Leon</cp:lastModifiedBy>
  <cp:revision>7</cp:revision>
  <dcterms:created xsi:type="dcterms:W3CDTF">2025-08-21T15:24:57Z</dcterms:created>
  <dcterms:modified xsi:type="dcterms:W3CDTF">2025-08-31T02:31:11Z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